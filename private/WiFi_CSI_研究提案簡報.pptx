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EE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DofLab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373368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劉瑞弘 · 智慧自動化工程系 · 國立勤益科技大學 · DofLab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73368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劉瑞弘 · 智慧自動化工程系 · 國立勤益科技大學 · DofLab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DofLab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0" y="164592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Research Proposal ·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research proposal by Jui-Hung Liu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看不見的活點地圖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4564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基於 Wi-Fi 6E 高維 CSI 之姿態魯棒睡眠呼吸中止症居家偵測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3913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Posture-Robust In-Home Sleep Apnea Sensing with High-Dimensional WiFi CSI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657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4681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 · 理論 · 貢獻 · 方法 · 應用</a:t>
            </a:r>
            <a:endParaRPr lang="en-US" sz="1900" dirty="0"/>
          </a:p>
        </p:txBody>
      </p:sp>
      <p:sp>
        <p:nvSpPr>
          <p:cNvPr id="10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NCUT · Taichung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 · 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Marauder's Map, Built from WiFi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研究願景 — 一張看不見的地圖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想像一張地圖，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顯示每個房間裡有誰、正在做什麼，卻沒有一台攝影機。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8952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活點地圖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108960" y="2926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哈利波特的地圖顯示城堡裡每個人的位置與腳印——這正是無線感知的終極願景，只是我們用相位差，不用魔法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76732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3950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穿牆透視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108960" y="395020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WiFi 波長夠長，能穿透牆壁；對它而言，穿牆感知是預設能力，不是超能力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" y="4791456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952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但匿名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108960" y="497433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我們的地圖看得見「有人在呼吸」，看不見「他是誰」——這份匿名性正是醫療場景的關鍵價值</a:t>
            </a:r>
            <a:endParaRPr lang="en-US" sz="1900" dirty="0"/>
          </a:p>
        </p:txBody>
      </p:sp>
      <p:sp>
        <p:nvSpPr>
          <p:cNvPr id="14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 · 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Three Lenses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三個比喻，三個層次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本研究用三個大家熟悉的「透視」概念，分別對應願景、能力與方法：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952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活點地圖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063240" y="2825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願景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34840" y="28254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俯瞰全局的生命地圖——我們最終想看見的樣子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921240" y="28437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B8B0A4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哈利波特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353872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" y="3721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白　眼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063240" y="37581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能力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37581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穿透牆壁、全方位無死角、看見體內流動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21240" y="3776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B8B0A4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火影忍者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71416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8952" y="46542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凝 Gyo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63240" y="4690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方法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34840" y="46908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聚焦感知，看清被雜訊淹沒的微弱訊號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921240" y="4709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B8B0A4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獵人×獵人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三者不衝突，而是不同層次——願景在開場，能力在理論，方法在 PASS 機制。</a:t>
            </a:r>
            <a:endParaRPr lang="en-US" sz="1800" dirty="0"/>
          </a:p>
        </p:txBody>
      </p:sp>
      <p:sp>
        <p:nvSpPr>
          <p:cNvPr id="2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Technical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What is WiFi CSI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技術核心 — 通道狀態資訊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CSI（Channel State Information）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描述 MIMO-OFDM 系統中訊號在每條天線對、每個子載波上的振幅與相位。頻域模型：</a:t>
            </a:r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Y = HX + 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952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相較 RSSI 的優勢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3355848"/>
            <a:ext cx="493776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50215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RSSI：每封包僅 1 個純量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CSI：數十至數百個維度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對細微環境變化靈敏度高出數千倍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53912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本研究硬體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53912" y="3355848"/>
            <a:ext cx="493776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53912" y="350215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Intel AX211（Wi-Fi 6E, 802.11ax）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160MHz 下最多 256 子載波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遠超 Intel 5300（30）與 ESP32（56）</a:t>
            </a:r>
            <a:endParaRPr lang="en-US" sz="2000" dirty="0"/>
          </a:p>
        </p:txBody>
      </p:sp>
      <p:sp>
        <p:nvSpPr>
          <p:cNvPr id="12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Physics · 如「白眼」的穿透感知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理論基礎 — 相位對位移的靈敏度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核心方程式：</a:t>
            </a:r>
            <a:pPr indent="0" marL="0">
              <a:buNone/>
            </a:pPr>
            <a:r>
              <a:rPr lang="en-US" sz="23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Δφ = 4π·Δd / 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8952" y="23957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呼吸時胸腔起伏 2–6 mm，於 2.4GHz 對應相位改變 0.2–0.6 rad，足以在 CSI 時序留下可偵測的週期訊號。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8952" y="4069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如同火影的「白眼」——穿透牆壁、近乎全方位無死角，並能看見體內的微弱流動。WiFi 訊號從四面八方反射、繞射包裹目標，正是這種全方位穿透感知。</a:t>
            </a:r>
            <a:endParaRPr lang="en-US" sz="1800" dirty="0"/>
          </a:p>
        </p:txBody>
      </p:sp>
      <p:pic>
        <p:nvPicPr>
          <p:cNvPr id="8" name="Image 0" descr="/mnt/user-data/uploads/1000017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011680"/>
            <a:ext cx="5577840" cy="31363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45352" y="2011680"/>
            <a:ext cx="5577840" cy="3136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5352" y="51937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多路徑傳播與 CSI 振幅響應</a:t>
            </a:r>
            <a:endParaRPr lang="en-US" sz="18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Vital Signs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生命徵象監測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呼吸率偵測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2395728"/>
            <a:ext cx="50292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Mosleh et al. 2022 · BreatheSmart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NIST/FDA，LSTM 呼吸模式分類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Gui et al. 2023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呼吸率誤差低至 0.13 brpm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Ratnam et al. 2024 · IEEE TWC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ML 相位校正，SNR +20%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5391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心率偵測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53912" y="2395728"/>
            <a:ext cx="50292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53912" y="2542032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Sun et al. 2024 · Sensors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振幅+相位旋轉投影，96% 準確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PulseFi 2025 · arXiv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118 受試者，MAE 0.08 BPM，ESP32 即時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PeerJ Review 2026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系統性回顧：多人監測已達 4 人 &gt;86%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共同限制：高性能數字幾乎全來自實驗室受控環境，跨場域部署性能顯著衰退。</a:t>
            </a:r>
            <a:endParaRPr lang="en-US" sz="1800" dirty="0"/>
          </a:p>
        </p:txBody>
      </p:sp>
      <p:sp>
        <p:nvSpPr>
          <p:cNvPr id="12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Sleep Apnea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睡眠呼吸中止偵測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1031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Chang et al. 2023 · NYCU（arXiv:2304.06474）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952" y="25054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注意力機制同時偵測呼吸中止與週期肢動；指出現有研究過度受控，未處理宏觀+微觀並存的複雜場景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320040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3832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Alzaabi et al. 2024 · IEEE Dataport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8952" y="378561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老年人睡眠 CSI 公開資料集，含 CSA/OSA 標籤 + 呼吸帶真值，目前最完整開放資料集之一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448056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" y="4663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Kocheta et al. 2025 · PulseFi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8952" y="506577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ESP32 + Raspberry Pi 整合心肺與呼吸中止偵測，118 受試者，系統完整性最高</a:t>
            </a:r>
            <a:endParaRPr lang="en-US" sz="1800" dirty="0"/>
          </a:p>
        </p:txBody>
      </p:sp>
      <p:sp>
        <p:nvSpPr>
          <p:cNvPr id="13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Generalization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跨場域泛化挑戰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ACM Computing Surveys 2025　</a:t>
            </a:r>
            <a:pPr indent="0" marL="0">
              <a:buNone/>
            </a:pPr>
            <a:r>
              <a:rPr lang="en-US" sz="21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在 14 個資料集、132 萬筆 CSI 樣本上評估，結論明確：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952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「資料量與多樣性，而非模型容量，才是泛化能力的核心瓶頸」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" y="338328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三類現有解法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領域適應（Domain Adaptation）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少樣本學習（Few-shot Learning）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資料增強（RFBoost, IMWUT 2024）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52160" y="39776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睡眠場景的特殊性：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睡眠者整夜多次翻身，姿態改變等效於「換場景」。姿態魯棒性是睡眠應用不可忽視、且文獻尚無系統解法的核心挑戰。</a:t>
            </a:r>
            <a:endParaRPr lang="en-US" sz="19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Breakthroughs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Where We Break Through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接下來的突破點 — 五個研究缺口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22677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802.11ax 高維 CSI（256 子載波）在生命徵象監測中尚無系統性評估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288036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026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睡眠翻身的姿態魯棒性處理機制缺乏，無自動重新校準方案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366674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" y="3813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38404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單天線低成本方案同時估測 BR+HR 的頻率分離瓶頸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445312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952" y="4599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46268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臨床可用的居家篩檢驗證不足，缺乏與 PSG 長時間比對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" y="5239512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952" y="5385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541324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擷取工具生態碎片化，FeitCSI/IAX 缺乏系統比較</a:t>
            </a:r>
            <a:endParaRPr lang="en-US" sz="2000" dirty="0"/>
          </a:p>
        </p:txBody>
      </p:sp>
      <p:sp>
        <p:nvSpPr>
          <p:cNvPr id="1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Research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Core Question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737360" y="1874520"/>
            <a:ext cx="9509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如何利用 IEEE 802.11ax 高維 CSI，在不依賴穿戴設備下，實現睡眠呼吸異常（含呼吸中止症）的姿態魯棒偵測，並達到可支援居家篩檢的臨床準確度？</a:t>
            </a:r>
            <a:endParaRPr lang="en-US" sz="32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Our Five Contributions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預期貢獻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22677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首次系統評估 AX211 256 子載波 CSI 的生命徵象偵測增益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288036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0266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提出姿態感知子載波選擇機制（PASS），解決翻身性能劣化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366674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" y="3813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38404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輕量雙任務模型（BR 迴歸 + 呼吸中止分類），可邊緣部署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445312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952" y="45994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46268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建立臺灣本土多姿態 CSI 睡眠資料集，與 PSG 臨床比對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" y="5239512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952" y="5385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541324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FeitCSI / IAX 工具於 AX211 平台的訊號品質系統評比</a:t>
            </a:r>
            <a:endParaRPr lang="en-US" sz="2000" dirty="0"/>
          </a:p>
        </p:txBody>
      </p:sp>
      <p:sp>
        <p:nvSpPr>
          <p:cNvPr id="1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系統架構 — 擷取與分析分離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Linux 端 · 擷取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TX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手機 / AP 發射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9080" y="27889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91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RX · AX211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38912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256 子載波擷取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89520" y="27889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9095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FeitCSI / IAX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0956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Monitor 模式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406908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8952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Windows 端 · 分析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資料檔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5239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跨系統傳輸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69080" y="493776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38912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CSIKit + PyTorch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389120" y="5239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前處理 · 訓練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89520" y="493776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90956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RTX 4080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909560" y="5239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即時推論輸出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主系統 Windows 完全不受影響 — 只在擷取時從 Live USB 開機。</a:t>
            </a:r>
            <a:endParaRPr lang="en-US" sz="1800" dirty="0"/>
          </a:p>
        </p:txBody>
      </p:sp>
      <p:sp>
        <p:nvSpPr>
          <p:cNvPr id="25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Signal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訊號前處理管線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601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原始 CSI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37216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Tx→Rx 量測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9464" y="34747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53512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53512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相位校正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953512" y="37216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CFO / SFO 消除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62856" y="34747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46904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46904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去噪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46904" y="37216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Hampel · DWT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56248" y="34747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940296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0296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特徵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940296" y="37216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PSD · 統計量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49640" y="3474720"/>
            <a:ext cx="310896" cy="0"/>
          </a:xfrm>
          <a:prstGeom prst="line">
            <a:avLst/>
          </a:prstGeom>
          <a:noFill/>
          <a:ln w="15875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93368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33688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模型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933688" y="37216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雙任務 BiLSTM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5074920"/>
            <a:ext cx="100584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6012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帶通濾波保留 0.1–2.5 Hz，涵蓋呼吸（0.2–0.5Hz）與心跳（0.8–2.0Hz）。</a:t>
            </a:r>
            <a:endParaRPr lang="en-US" sz="1800" dirty="0"/>
          </a:p>
        </p:txBody>
      </p:sp>
      <p:sp>
        <p:nvSpPr>
          <p:cNvPr id="2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Method ·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Core Innovation · PASS — 如「凝」的聚焦感知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姿態感知子載波選擇（PASS）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920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如獵人 × 獵人的「凝」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——把感知集中到特定區域，看清原本被雜訊淹沒的微弱訊號。PASS 即技術版的凝（對應 C2）。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8952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①  翻身事件偵測器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2788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振幅滑動窗口變異數超過動態門檻 → 判定姿態轉換，觸發重選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57530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37398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②  姿態指紋分類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373989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不同睡姿（仰/左/右/俯）的子載波靈敏度分佈 = 姿態指紋，輕量分類器辨識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" y="452628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952" y="4690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③  動態子載波重排序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46908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依當前姿態靈敏度排名，選取對呼吸響應最強的前 N 個子載波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8952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目標 H3：翻身後 10 秒內完成重選，呼吸率 MAE 變化 &lt; 1 BPM。</a:t>
            </a:r>
            <a:endParaRPr lang="en-US" sz="1800" dirty="0"/>
          </a:p>
        </p:txBody>
      </p:sp>
      <p:sp>
        <p:nvSpPr>
          <p:cNvPr id="15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Lightweight Dual-Task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輕量雙任務深度學習模型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單一模型同時輸出呼吸率與呼吸中止事件，共享底層特徵以降低參數量（對應 C3）。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952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主幹網路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28072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雙向 LSTM（BiLSTM），捕捉 CSI 時序長期依賴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30098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3447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任務頭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34655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呼吸率迴歸（BPM）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" y="3959352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952" y="41056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任務頭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412394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呼吸中止 / 正常二元分類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8952" y="461772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8952" y="47640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損失函數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47823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L = α·L迴歸(MAE) + β·L分類(Focal Loss)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8952" y="527608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8952" y="5422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部署目標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66160" y="5440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參數量 &lt; 1M，可於 ESP32 / Raspberry Pi 即時運行</a:t>
            </a:r>
            <a:endParaRPr lang="en-US" sz="1900" dirty="0"/>
          </a:p>
        </p:txBody>
      </p:sp>
      <p:sp>
        <p:nvSpPr>
          <p:cNvPr id="2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Validation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五項驗證實驗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高維 CSI 靈敏度評估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22585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AX211 vs ESP32 的呼吸偵測增益（H1）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2862072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3026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91640" y="3026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擷取工具評比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30449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FeitCSI / IAX 訊號品質與相位一致性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" y="3648456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952" y="3813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9164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PASS 機制驗證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383133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翻身後性能恢復消融實驗（H3）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" y="4434840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952" y="4599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91640" y="45994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雙任務模型評估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46177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對照 FFT / 單任務 LSTM / PulseFi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" y="522122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8952" y="5385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91640" y="5385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跨場域泛化測試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20640" y="54041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zero-shot + LOSO 跨人評估（H5）</a:t>
            </a:r>
            <a:endParaRPr lang="en-US" sz="1800" dirty="0"/>
          </a:p>
        </p:txBody>
      </p:sp>
      <p:sp>
        <p:nvSpPr>
          <p:cNvPr id="24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Primary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主要應用 — 睡眠呼吸中止症篩檢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0116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PSG 整夜配戴、一床難求、$5,000+。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全球 9.36 億患者，80% 未診斷。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952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我們的方案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3767328"/>
            <a:ext cx="512064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" y="3913632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整夜、無接觸、零穿戴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偵測呼吸暫停與週期異常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AX211 放床頭即可採集</a:t>
            </a:r>
            <a:endParaRPr lang="en-US" sz="2000" dirty="0"/>
          </a:p>
        </p:txBody>
      </p:sp>
      <p:pic>
        <p:nvPicPr>
          <p:cNvPr id="9" name="Image 0" descr="/mnt/user-data/uploads/1000017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965960"/>
            <a:ext cx="5532120" cy="3108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965960"/>
            <a:ext cx="553212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Broader 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可能的應用 — 地圖延伸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從一張床出發，活點地圖能延伸到更多需要「看見、卻不能拍攝」的場景：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952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居家長照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0" y="28529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獨居長者跌倒與呼吸監測，臥室浴室也能守護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401568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車內生命偵測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36027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Euro NCAP 法規驅動，偵測蓋毯下的嬰兒呼吸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" y="4151376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952" y="4334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智慧農業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435254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土壤含水介電感測，戶外大面積非接觸監測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8952" y="4901184"/>
            <a:ext cx="10515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8952" y="5084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工業狀態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51023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設備運轉、液體洩漏等持續性狀態的非接觸偵測</a:t>
            </a:r>
            <a:endParaRPr lang="en-US" sz="1900" dirty="0"/>
          </a:p>
        </p:txBody>
      </p:sp>
      <p:sp>
        <p:nvSpPr>
          <p:cNvPr id="1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0" y="16459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6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Path &amp; Targets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896112"/>
            <a:ext cx="10671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執行路線與投稿目標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四階段 · 14 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2395728"/>
            <a:ext cx="493776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W1–2　環境建置（Live USB + AX211）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W3–7　資料採集 + 工具評比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W8–11　PASS + 雙任務模型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W12　跨場域 + 消融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W13–14　臨床比對驗證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5391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投稿目標期刊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53912" y="2395728"/>
            <a:ext cx="493776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53912" y="2542032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IEEE Internet of Things Journal</a:t>
            </a:r>
            <a:endParaRPr lang="en-US" sz="19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主場域，契合度最佳</a:t>
            </a:r>
            <a:endParaRPr lang="en-US" sz="19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IEEE Sensors Journal</a:t>
            </a:r>
            <a:endParaRPr lang="en-US" sz="19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感測系統類論文友善</a:t>
            </a:r>
            <a:endParaRPr lang="en-US" sz="19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ACM IMWUT / UbiComp</a:t>
            </a:r>
            <a:endParaRPr lang="en-US" sz="19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9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頂會等級，若結果亮眼可挑戰</a:t>
            </a:r>
            <a:endParaRPr lang="en-US" sz="19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DofLab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Mischief managed.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從一張床的呼吸地圖開始，繪製一張看不見的活點地圖。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3657600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jhliu@ncut.edu.tw · doflab.cc</a:t>
            </a:r>
            <a:endParaRPr lang="en-US" sz="1800" dirty="0"/>
          </a:p>
        </p:txBody>
      </p:sp>
      <p:sp>
        <p:nvSpPr>
          <p:cNvPr id="7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WiFi CSI Sensing · Research Proposal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CSI 睡眠呼吸感知 — 研究提案簡報</dc:title>
  <dc:subject>PptxGenJS Presentation</dc:subject>
  <dc:creator>Jui-Hung Liu</dc:creator>
  <cp:lastModifiedBy>Jui-Hung Liu</cp:lastModifiedBy>
  <cp:revision>1</cp:revision>
  <dcterms:created xsi:type="dcterms:W3CDTF">2026-06-25T16:42:26Z</dcterms:created>
  <dcterms:modified xsi:type="dcterms:W3CDTF">2026-06-25T16:42:26Z</dcterms:modified>
</cp:coreProperties>
</file>