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EE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DofLab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373368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劉瑞弘 · 智慧自動化工程系 · 國立勤益科技大學 · DofLab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ED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73368"/>
            <a:ext cx="11274552" cy="9144"/>
          </a:xfrm>
          <a:prstGeom prst="rect">
            <a:avLst/>
          </a:prstGeom>
          <a:solidFill>
            <a:srgbClr val="CFCF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劉瑞弘 · 智慧自動化工程系 · 國立勤益科技大學 · DofLab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research talk by Jui-Hung Liu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2011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看不見的活點地圖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基於 Wi-Fi 6E 高維 CSI 之姿態魯棒睡眠呼吸中止居家偵測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0050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Posture-Robust In-Home Sleep Apnea Sensing with High-Dimensional WiFi CSI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願景 · 理論 · 文獻 · 實證 · 貢獻 · 方法 · 應用</a:t>
            </a:r>
            <a:endParaRPr lang="en-US" sz="1600" dirty="0"/>
          </a:p>
        </p:txBody>
      </p:sp>
      <p:sp>
        <p:nvSpPr>
          <p:cNvPr id="7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NCUT · Taichung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 · 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Marauder's Map, built from WiFi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研究願景 — 一張看不見的地圖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想像一張地圖，顯示每個房間裡有誰、正在做什麼——卻沒有一台攝影機。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活點地圖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哈利波特的地圖顯示城堡裡每個人的位置與腳印；這正是無線感知的終極願景，只是我們用相位差，不用魔法。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穿牆透視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37947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WiFi 波長夠長，能穿透牆壁；對它而言，穿牆感知是預設能力，不是超能力。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3816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但匿名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38160" y="37947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地圖看得見「有人在呼吸」，看不見「他是誰」——這份匿名性正是醫療場景的關鍵價值。</a:t>
            </a:r>
            <a:endParaRPr lang="en-US" sz="1800" dirty="0"/>
          </a:p>
        </p:txBody>
      </p:sp>
      <p:sp>
        <p:nvSpPr>
          <p:cNvPr id="12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0 · 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Three lenses: vision, capability, method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三個比喻，三個層次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活點地圖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1089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願景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2514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俯瞰全局的生命地圖——最終想看見的樣子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哈利波特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白　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能力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5661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穿透牆壁、全方位無死角、看見體內流動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火影忍者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凝 Gyo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方法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4617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聚焦感知，看清被雜訊淹沒的微弱訊號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獵人×獵人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三者不衝突，而是不同層次——願景在開場，能力在理論，方法在 PASS 機制。</a:t>
            </a:r>
            <a:endParaRPr lang="en-US" sz="1700" dirty="0"/>
          </a:p>
        </p:txBody>
      </p:sp>
      <p:sp>
        <p:nvSpPr>
          <p:cNvPr id="18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理論基礎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physics of sensing a millimetre</a:t>
            </a:r>
            <a:endParaRPr lang="en-US" sz="2200" dirty="0"/>
          </a:p>
        </p:txBody>
      </p:sp>
      <p:sp>
        <p:nvSpPr>
          <p:cNvPr id="5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Technical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What is Channel State Information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技術核心 — 通道狀態資訊 CSI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描述 MIMO-OFDM 系統中，訊號在每條天線對、每個子載波上的振幅與相位。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Y = H X + 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相較 RSSI 的優勢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RSSI：每封包僅 1 個純量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CSI：數十至數百個維度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對細微環境變化靈敏度高出數千倍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本研究硬體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Intel AX211（Wi-Fi 6E, 802.11ax）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160 MHz 下最多 256 子載波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遠超 Intel 5300（30）與 ESP32（56）</a:t>
            </a:r>
            <a:endParaRPr lang="en-US" sz="18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multipath model — where CSI comes from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多路徑訊號模型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是所有傳播路徑的相干疊加——直射、牆面反射、人體散射，各自帶著不同的延遲與衰減：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H(f_k) = Σₚ aₚ · exp(−j2π f_k dₚ / c)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把通道拆成兩部分：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靜態項 H_s 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（直射＋牆／家具反射，構成房間的「指紋」）＋ 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動態項 H_d(t) 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（人體散射，隨呼吸變化）。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 = H_s + H_d(t)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感測，就是在強大的 H_s 背景上，提取微弱的 H_d(t)。</a:t>
            </a:r>
            <a:endParaRPr lang="en-US" sz="1800" dirty="0"/>
          </a:p>
        </p:txBody>
      </p:sp>
      <p:sp>
        <p:nvSpPr>
          <p:cNvPr id="1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How breathing enters the phase — like the Byakugan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相位對位移的靈敏度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Δφ = 4π · Δd / 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胸腔起伏  Δd ≈ 2–6 mm
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@ 2.4 GHz (λ ≈ 12.5 cm) → Δφ ≈ 0.2–0.6 rad
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（4π 而非 2π：反射路徑往返兩趟）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0" y="32461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如火影的「白眼」——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穿透牆壁、近乎全方位無死角，並能看見體內的微弱流動。WiFi 從四面八方反射、繞射包裹目標，正是這種全方位穿透感知。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這 0.5 弧度，足以在 CSI 時序留下可偵測的週期訊號——但也僅此而已。</a:t>
            </a:r>
            <a:endParaRPr lang="en-US" sz="1800" dirty="0"/>
          </a:p>
        </p:txBody>
      </p:sp>
      <p:sp>
        <p:nvSpPr>
          <p:cNvPr id="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 ·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theoretical crux — why some subcarriers see breathing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子載波靈敏度：本研究的理論核心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呼吸造成的振幅變化，取決於靜態與動態相量的相位對位關係：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S_k ≈ |H_d(f_k)| · |sin( ∠H_s(f_k) − ∠H_d(f_k) )|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正交時最大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8056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兩相量正交（相位差 90°）時 S_k 最大——呼吸訊號最強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共線時歸零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80560" y="43616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兩相量共線時 S_k → 0，即文獻中的 Fresnel「盲點」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020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隨房間而變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80560" y="50200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∠H_s 取決於路徑長度、幾何與擺位 → 敏感子載波集合是「場域相依」的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→ 這一條式子，同時解釋了為何要高維 CSI（C1）、為何要場域校準（C4）、為何翻身要重選（C2）。</a:t>
            </a:r>
            <a:endParaRPr lang="en-US" sz="1700" dirty="0"/>
          </a:p>
        </p:txBody>
      </p:sp>
      <p:sp>
        <p:nvSpPr>
          <p:cNvPr id="1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Theory ·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Why high dimensionality and calibration pay off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融合多子載波的有效信噪比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在低訊噪比下，融合前 M 個最敏感子載波（雜訊獨立、變異數 σ²）可得有效信噪比：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SNR_eff ∝ ( Σ_{k∈Ω} S_k )² / ( M σ² 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高維 CSI（C1）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：256 子載波 → 更可能有子載波落在正交區 → Ω 更飽滿、更穩健。
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場域校準（C4）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：選對「這個房間」的 Ω（而非跨場域平均），直接放大 SNR_eff。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理論說「應該有效」；接下來我們動手在數位孿生裡驗證它究竟有多有效。</a:t>
            </a:r>
            <a:endParaRPr lang="en-US" sz="1800" dirty="0"/>
          </a:p>
        </p:txBody>
      </p:sp>
      <p:sp>
        <p:nvSpPr>
          <p:cNvPr id="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1 ·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question that reframes everything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手機在隔間也能上網，為何不能辨識呼吸？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通 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只要「有訊號到得了」就夠。繞射、反射、穿牆——任何一條夠強的路徑，加上重傳與糾錯，就能上網。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感 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要偵測「毫米級的變化量」。繞過隔間的訊號雖夠通訊，卻沒掃過人體、不帶呼吸資訊；帶呼吸的那條路徑，被擋住了。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通訊像隔牆聽見有人說話；感測像隔牆要讀出對方的唇語。</a:t>
            </a:r>
            <a:endParaRPr lang="en-US" sz="1900" dirty="0"/>
          </a:p>
        </p:txBody>
      </p:sp>
      <p:sp>
        <p:nvSpPr>
          <p:cNvPr id="1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What the field has, and what it lacks</a:t>
            </a:r>
            <a:endParaRPr lang="en-US" sz="2200" dirty="0"/>
          </a:p>
        </p:txBody>
      </p:sp>
      <p:sp>
        <p:nvSpPr>
          <p:cNvPr id="5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vital signs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生命徵象監測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呼吸率偵測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Mosleh 2022 · BreatheSmart（NIST，LSTM 呼吸分類）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Corrêa 2025 · 線性複雜度子載波選擇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PulseFi 2025 · 118 受試者，MAE 0.08 BPM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心率偵測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Sun 2024 · Sensors（振幅+相位，96% 準確）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FarSense / DiverSense · CSI-ratio 延伸距離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PeerJ 2026 · 多人監測已達 4 人 &gt;86%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共同限制：高性能數字幾乎全來自實驗室受控環境，跨場域部署性能顯著衰退。</a:t>
            </a:r>
            <a:endParaRPr lang="en-US" sz="1800" dirty="0"/>
          </a:p>
        </p:txBody>
      </p:sp>
      <p:sp>
        <p:nvSpPr>
          <p:cNvPr id="1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sleep apnea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睡眠呼吸中止偵測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Chang 2023 · NYCU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0" y="2423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注意力機制同時偵測呼吸中止與週期肢動；指出現有研究過度受控，未處理宏觀＋微觀並存的複雜場景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Alzaabi 2024 · IEEE Dataport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0" y="3566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老年人睡眠 CSI 公開資料集，含 CSA／OSA 標籤＋呼吸帶真值，目前最完整開放資料集之一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Kocheta 2025 · PulseFi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4709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ESP32＋Raspberry Pi 整合心肺與呼吸中止，118 受試者，系統完整性最高</a:t>
            </a:r>
            <a:endParaRPr lang="en-US" sz="18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2 ·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Related work · the generalization wall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文獻回顧 — 跨場域泛化挑戰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IEEE COMST 2025 生成能力綜述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（14 資料集、百萬筆 CSI）結論明確：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「資料量與多樣性，而非模型容量，才是泛化能力的核心瓶頸。」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三類現有解法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領域適應（Domain Adaptation）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少樣本學習（Few-shot / MetaFormer）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資料增強（RFBoost）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睡眠場景的特殊性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09360" y="41605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睡眠者整夜多次翻身，姿態改變等效於「換場景」。姿態魯棒性是睡眠應用不可忽視、且文獻尚無系統解法的核心挑戰。</a:t>
            </a:r>
            <a:endParaRPr lang="en-US" sz="1800" dirty="0"/>
          </a:p>
        </p:txBody>
      </p:sp>
      <p:sp>
        <p:nvSpPr>
          <p:cNvPr id="1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Evidence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我們動手驗證的問題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From theory to a physics-based digital twin</a:t>
            </a:r>
            <a:endParaRPr lang="en-US" sz="2200" dirty="0"/>
          </a:p>
        </p:txBody>
      </p:sp>
      <p:sp>
        <p:nvSpPr>
          <p:cNvPr id="5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We measured our own optimism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實證① — 理想化模型會騙人</a:t>
            </a:r>
            <a:endParaRPr lang="en-US" sz="3800" dirty="0"/>
          </a:p>
        </p:txBody>
      </p:sp>
      <p:pic>
        <p:nvPicPr>
          <p:cNvPr id="5" name="Image 0" descr="realism_abla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05" y="2286000"/>
            <a:ext cx="8747342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逐步加入真實物理，理想化模型比全真實樂觀約 14 倍——合成值必須以真實資料重新驗證。</a:t>
            </a:r>
            <a:endParaRPr lang="en-US" sz="15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Signal reachable ≠ signal usable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實證② — 房間幾何會製造遮蔽死角</a:t>
            </a:r>
            <a:endParaRPr lang="en-US" sz="3800" dirty="0"/>
          </a:p>
        </p:txBody>
      </p:sp>
      <p:pic>
        <p:nvPicPr>
          <p:cNvPr id="5" name="Image 0" descr="shape_comparis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17" y="2286000"/>
            <a:ext cx="9161318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隔間讓可用覆蓋從 95% 崩到 3%（訊號只到門洞）；斜牆不遮蔽，卻改變「該用哪些子載波」。</a:t>
            </a:r>
            <a:endParaRPr lang="en-US" sz="15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3 ·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Motion continues, airflow stops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實證③ — 臨床事件會被動作型偵測漏判</a:t>
            </a:r>
            <a:endParaRPr lang="en-US" sz="3800" dirty="0"/>
          </a:p>
        </p:txBody>
      </p:sp>
      <p:pic>
        <p:nvPicPr>
          <p:cNvPr id="5" name="Image 0" descr="clinical_scenario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08" y="2286000"/>
            <a:ext cx="5919335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動作型偵測抓到中樞型（100%），卻漏掉臨床主要的阻塞型 OSA 與低通氣（0%）——動作 ≠ 氣流。</a:t>
            </a:r>
            <a:endParaRPr lang="en-US" sz="15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Breakthroughs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Five research gaps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五個研究缺口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2404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802.11ax 高維 CSI（256 子載波）在生命徵象監測中尚無系統性評估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31821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睡眠翻身的姿態魯棒性處理機制缺乏，無自動重新校準方案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3959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單天線低成本方案同時估測 BR＋HR 的頻率分離瓶頸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4736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臨床可用的居家篩檢驗證不足，缺乏與 PSG 長時間比對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5513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擷取工具生態碎片化，FeitCSI／IAX 缺乏系統比較</a:t>
            </a:r>
            <a:endParaRPr lang="en-US" sz="1900" dirty="0"/>
          </a:p>
        </p:txBody>
      </p:sp>
      <p:sp>
        <p:nvSpPr>
          <p:cNvPr id="15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Research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Core Question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B8B0A4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「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63040" y="265176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如何利用 IEEE 802.11ax 高維 CSI，在不依賴穿戴設備下，實現睡眠呼吸異常（含呼吸中止症）的姿態魯棒偵測，並達到可支援居家篩檢的臨床準確度？</a:t>
            </a:r>
            <a:endParaRPr lang="en-US" sz="30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4 · 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Five contributions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預期貢獻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2404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首次系統評估 AX211 256 子載波 CSI 的生命徵象偵測增益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31821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提出姿態感知子載波選擇機制（PASS），解決翻身性能劣化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3959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輕量雙任務模型（BR 迴歸＋呼吸中止分類），可邊緣部署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4736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分層場域校準策略，並建立與 PSG 臨床比對的資料集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5513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FeitCSI／IAX 工具於 AX211 平台的訊號品質系統評比</a:t>
            </a:r>
            <a:endParaRPr lang="en-US" sz="1900" dirty="0"/>
          </a:p>
        </p:txBody>
      </p:sp>
      <p:sp>
        <p:nvSpPr>
          <p:cNvPr id="15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方法設計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Acquisition, PASS, and a layered strategy</a:t>
            </a:r>
            <a:endParaRPr lang="en-US" sz="2200" dirty="0"/>
          </a:p>
        </p:txBody>
      </p:sp>
      <p:sp>
        <p:nvSpPr>
          <p:cNvPr id="5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System architecture — acquisition / analysis split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系統架構 — 擷取與分析分離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Linux 端 · 擷取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TX：手機／AP 發射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RX · AX211：256 子載波、Monitor 模式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FeitCSI / IAX 擷取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Windows 端 · 分析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09360" y="29260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CSI 資料檔跨系統傳輸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CSIKit + PyTorch · RTX 4080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前處理、訓練、即時推論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主系統 Windows 完全不受影響——只在擷取時從 Live USB 開機。</a:t>
            </a:r>
            <a:endParaRPr lang="en-US" sz="1900" dirty="0"/>
          </a:p>
        </p:txBody>
      </p:sp>
      <p:sp>
        <p:nvSpPr>
          <p:cNvPr id="1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Signal pre-processing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訊號前處理管線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原始 CSI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Tx→Rx 量測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06324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相位校正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06324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CFO / SFO 消除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去噪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1208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Hampel · DWT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6092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特徵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609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PSD · 統計量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0976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模型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097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雙任務 BiLSTM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帶通濾波保留 0.1–2.5 Hz，涵蓋呼吸（0.2–0.5 Hz）與心跳（0.8–2.0 Hz）。</a:t>
            </a:r>
            <a:endParaRPr lang="en-US" sz="1900" dirty="0"/>
          </a:p>
        </p:txBody>
      </p:sp>
      <p:sp>
        <p:nvSpPr>
          <p:cNvPr id="21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 ·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Core innovation · PASS — the technical 'Gyo'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核心創新 · PASS 姿態感知子載波選擇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① 翻身事件偵測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37760" y="23317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振幅滑動窗口變異數超過動態門檻 → 判定姿態轉換，觸發重選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② 姿態指紋分類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32918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不同睡姿的子載波靈敏度分佈＝姿態指紋，輕量分類器辨識當前姿態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③ 動態子載波重排序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42519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依當前姿態靈敏度 S_k 排名，重選對呼吸響應最強的前 M 個子載波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目標 H3：翻身後 10 秒內完成重選，呼吸率 MAE 變化 &lt; 1 BPM。</a:t>
            </a:r>
            <a:endParaRPr lang="en-US" sz="1800" dirty="0"/>
          </a:p>
        </p:txBody>
      </p:sp>
      <p:sp>
        <p:nvSpPr>
          <p:cNvPr id="12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Lightweight dual-task model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輕量雙任務深度學習模型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主幹：雙向 LSTM，捕捉 CSI 時序長期依賴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任務頭 A：呼吸率迴歸（BPM）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任務頭 B：呼吸中止／正常二元分類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部署目標：參數量 &lt; 1M，可邊緣即時運行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809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損失函數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80960" y="2880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 = α·L_reg(MAE)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9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      + β·L_cls(Focal)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0960" y="4114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Focal Loss 專治罕見事件（呼吸中止）的類別不平衡。</a:t>
            </a:r>
            <a:endParaRPr lang="en-US" sz="1700" dirty="0"/>
          </a:p>
        </p:txBody>
      </p:sp>
      <p:sp>
        <p:nvSpPr>
          <p:cNvPr id="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Fix the background, focus on the foreground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分層場域校準 — 精度與魯棒的取捨</a:t>
            </a:r>
            <a:endParaRPr lang="en-US" sz="3800" dirty="0"/>
          </a:p>
        </p:txBody>
      </p:sp>
      <p:pic>
        <p:nvPicPr>
          <p:cNvPr id="5" name="Image 0" descr="site_calibra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286000"/>
            <a:ext cx="89154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806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場域專屬子載波校準把低訊噪比誤差從 2.11 降到 0.47 BPM；環境一變則失準，需可重新校準。</a:t>
            </a:r>
            <a:endParaRPr lang="en-US" sz="1500" dirty="0"/>
          </a:p>
        </p:txBody>
      </p:sp>
      <p:sp>
        <p:nvSpPr>
          <p:cNvPr id="7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5 ·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Five validation experiments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五項驗證實驗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高維 CSI 靈敏度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77840" y="23591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AX211 vs ESP32 呼吸偵測增益（H1）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815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CSI 擷取工具評比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3108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FeitCSI / IAX 訊號品質與相位一致性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831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8313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PASS 機制驗證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38587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翻身後性能恢復消融實驗（H3）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81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5811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雙任務模型評估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460857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對照 FFT / 單任務 LSTM / PulseFi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330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5330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跨場域泛化測試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77840" y="53583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zero-shot + LOSO 跨人評估（H5）</a:t>
            </a:r>
            <a:endParaRPr lang="en-US" sz="1800" dirty="0"/>
          </a:p>
        </p:txBody>
      </p:sp>
      <p:sp>
        <p:nvSpPr>
          <p:cNvPr id="20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6 ·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Primary application · sleep apnea screening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主要應用 — 睡眠呼吸中止症篩檢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臨床痛點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PSG 整夜配戴、一床難求、$5,000+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全球 9.36 億患者，約 80% 未診斷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需要可負擔、可規模化的居家篩檢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我們的方案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· 整夜、無接觸、零穿戴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· 偵測呼吸暫停與週期異常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· AX211 放床頭即可採集</a:t>
            </a:r>
            <a:endParaRPr lang="en-US" dirty="0"/>
          </a:p>
        </p:txBody>
      </p:sp>
      <p:sp>
        <p:nvSpPr>
          <p:cNvPr id="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6 ·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broader map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可能的應用 — 地圖延伸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居家長照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獨居長者跌倒與呼吸監測，臥室浴室也能守護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車內生命偵測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Euro NCAP 法規驅動，偵測蓋毯下的嬰兒呼吸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智慧農業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土壤含水介電感測，戶外大面積非接觸監測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工業狀態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4526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設備運轉、液體洩漏等持續狀態的非接觸偵測</a:t>
            </a:r>
            <a:endParaRPr lang="en-US" sz="1800" dirty="0"/>
          </a:p>
        </p:txBody>
      </p:sp>
      <p:sp>
        <p:nvSpPr>
          <p:cNvPr id="13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858000" y="2743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§ 7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268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path &amp; submission targets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896112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執行路線與投稿目標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四階段 · 14 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W1–2　環境建置（Live USB + AX211）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W3–7　資料採集 + 工具評比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W8–11　PASS + 雙任務模型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W12　跨場域 + 消融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W13–14　臨床比對驗證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6B7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投稿目標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66560" y="29260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IEEE Internet of Things Journal（主場域）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IEEE Sensors Journal（感測系統友善）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8191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· ACM IMWUT / UbiComp（頂會，挑戰）</a:t>
            </a:r>
            <a:endParaRPr lang="en-US" sz="1800" dirty="0"/>
          </a:p>
        </p:txBody>
      </p:sp>
      <p:sp>
        <p:nvSpPr>
          <p:cNvPr id="9" name="Text 4"/>
          <p:cNvSpPr/>
          <p:nvPr>
            <p:ph idx="105" hasCustomPrompt="1"/>
          </p:nvPr>
        </p:nvSpPr>
        <p:spPr>
          <a:xfrm>
            <a:off x="10515600" y="64922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5A6B7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Mischief managed.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8F95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從一張床的呼吸地圖開始，繪製一張看不見的活點地圖。</a:t>
            </a:r>
            <a:endParaRPr lang="en-US" sz="2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943600" y="6492240"/>
            <a:ext cx="5788152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F9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jhliu@ncut.edu.tw · doflab.cc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2026-07-04T01:10:33Z</dcterms:created>
  <dcterms:modified xsi:type="dcterms:W3CDTF">2026-07-04T01:10:33Z</dcterms:modified>
</cp:coreProperties>
</file>